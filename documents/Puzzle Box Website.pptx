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sldIdLst>
    <p:sldId id="256" r:id="rId5"/>
    <p:sldId id="257" r:id="rId6"/>
    <p:sldId id="258" r:id="rId7"/>
    <p:sldId id="25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11/20/2019</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21708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11/20/2019</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91324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11/20/2019</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0056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11/20/2019</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44905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11/20/2019</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89748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11/20/2019</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59095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11/20/2019</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53158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11/20/2019</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964650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11/20/2019</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41056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11/20/2019</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32584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11/20/2019</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374826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11/20/2019</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386908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704" r:id="rId5"/>
    <p:sldLayoutId id="2147483698" r:id="rId6"/>
    <p:sldLayoutId id="2147483699" r:id="rId7"/>
    <p:sldLayoutId id="2147483700" r:id="rId8"/>
    <p:sldLayoutId id="2147483703" r:id="rId9"/>
    <p:sldLayoutId id="2147483701" r:id="rId10"/>
    <p:sldLayoutId id="2147483702" r:id="rId11"/>
  </p:sldLayoutIdLst>
  <p:hf sldNum="0" hdr="0" ftr="0" dt="0"/>
  <p:txStyles>
    <p:titleStyle>
      <a:lvl1pPr algn="l" defTabSz="914400" rtl="0" eaLnBrk="1" latinLnBrk="0" hangingPunct="1">
        <a:lnSpc>
          <a:spcPct val="80000"/>
        </a:lnSpc>
        <a:spcBef>
          <a:spcPct val="0"/>
        </a:spcBef>
        <a:buNone/>
        <a:defRPr sz="54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3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21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eng4153@gmail.com" TargetMode="External"/><Relationship Id="rId7" Type="http://schemas.openxmlformats.org/officeDocument/2006/relationships/image" Target="../media/image7.png"/><Relationship Id="rId2" Type="http://schemas.openxmlformats.org/officeDocument/2006/relationships/hyperlink" Target="mailto:keyboardpapi@protonmail.com"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mailto:legalizesushi18plus@proton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F4F2BA-3C03-4E2C-8ABC-0949B61B3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66AA870-3EB0-407C-8A58-F13B768B765F}"/>
              </a:ext>
            </a:extLst>
          </p:cNvPr>
          <p:cNvPicPr>
            <a:picLocks noChangeAspect="1"/>
          </p:cNvPicPr>
          <p:nvPr/>
        </p:nvPicPr>
        <p:blipFill rotWithShape="1">
          <a:blip r:embed="rId2">
            <a:alphaModFix amt="35000"/>
          </a:blip>
          <a:srcRect t="3827" b="11904"/>
          <a:stretch/>
        </p:blipFill>
        <p:spPr>
          <a:xfrm>
            <a:off x="20" y="10"/>
            <a:ext cx="12191980" cy="6857990"/>
          </a:xfrm>
          <a:prstGeom prst="rect">
            <a:avLst/>
          </a:prstGeom>
        </p:spPr>
      </p:pic>
      <p:sp>
        <p:nvSpPr>
          <p:cNvPr id="2" name="Title 1">
            <a:extLst>
              <a:ext uri="{FF2B5EF4-FFF2-40B4-BE49-F238E27FC236}">
                <a16:creationId xmlns:a16="http://schemas.microsoft.com/office/drawing/2014/main" id="{E21C3CA0-2A49-4000-B2BF-851FB795D88D}"/>
              </a:ext>
            </a:extLst>
          </p:cNvPr>
          <p:cNvSpPr>
            <a:spLocks noGrp="1"/>
          </p:cNvSpPr>
          <p:nvPr>
            <p:ph type="ctrTitle"/>
          </p:nvPr>
        </p:nvSpPr>
        <p:spPr>
          <a:xfrm>
            <a:off x="1097280" y="758952"/>
            <a:ext cx="10058400" cy="3566160"/>
          </a:xfrm>
        </p:spPr>
        <p:txBody>
          <a:bodyPr>
            <a:normAutofit/>
          </a:bodyPr>
          <a:lstStyle/>
          <a:p>
            <a:r>
              <a:rPr lang="en-US" dirty="0">
                <a:solidFill>
                  <a:srgbClr val="FFFFFF"/>
                </a:solidFill>
              </a:rPr>
              <a:t>Puzzle Box Website</a:t>
            </a:r>
          </a:p>
        </p:txBody>
      </p:sp>
      <p:sp>
        <p:nvSpPr>
          <p:cNvPr id="3" name="Subtitle 2">
            <a:extLst>
              <a:ext uri="{FF2B5EF4-FFF2-40B4-BE49-F238E27FC236}">
                <a16:creationId xmlns:a16="http://schemas.microsoft.com/office/drawing/2014/main" id="{D59E189F-8267-4512-9F16-FB590919805C}"/>
              </a:ext>
            </a:extLst>
          </p:cNvPr>
          <p:cNvSpPr>
            <a:spLocks noGrp="1"/>
          </p:cNvSpPr>
          <p:nvPr>
            <p:ph type="subTitle" idx="1"/>
          </p:nvPr>
        </p:nvSpPr>
        <p:spPr>
          <a:xfrm>
            <a:off x="1100051" y="4645152"/>
            <a:ext cx="10058400" cy="1143000"/>
          </a:xfrm>
        </p:spPr>
        <p:txBody>
          <a:bodyPr>
            <a:normAutofit/>
          </a:bodyPr>
          <a:lstStyle/>
          <a:p>
            <a:r>
              <a:rPr lang="en-US" dirty="0">
                <a:solidFill>
                  <a:srgbClr val="FFFFFF"/>
                </a:solidFill>
              </a:rPr>
              <a:t>“Agnes wants to die” puzzle</a:t>
            </a:r>
          </a:p>
        </p:txBody>
      </p:sp>
      <p:cxnSp>
        <p:nvCxnSpPr>
          <p:cNvPr id="11" name="Straight Connector 10">
            <a:extLst>
              <a:ext uri="{FF2B5EF4-FFF2-40B4-BE49-F238E27FC236}">
                <a16:creationId xmlns:a16="http://schemas.microsoft.com/office/drawing/2014/main" id="{A07787ED-5EDC-4C54-AD87-55B60D0FE3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B40A8CA7-7D5A-43B0-A1A0-B558ECA9E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009364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pic>
        <p:nvPicPr>
          <p:cNvPr id="1026" name="Picture 2" descr="Image result for mysterious package company">
            <a:extLst>
              <a:ext uri="{FF2B5EF4-FFF2-40B4-BE49-F238E27FC236}">
                <a16:creationId xmlns:a16="http://schemas.microsoft.com/office/drawing/2014/main" id="{C621898B-AF3D-43C3-B67E-158AE2B58D1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3196" r="1" b="10528"/>
          <a:stretch/>
        </p:blipFill>
        <p:spPr bwMode="auto">
          <a:xfrm>
            <a:off x="2843" y="10"/>
            <a:ext cx="12186315"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95B38FD6-641F-41BF-B466-C1C636642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474" y="1238442"/>
            <a:ext cx="3635926" cy="4355751"/>
          </a:xfrm>
          <a:prstGeom prst="rect">
            <a:avLst/>
          </a:prstGeom>
          <a:solidFill>
            <a:srgbClr val="000000">
              <a:alpha val="7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6BF9119E-766E-4526-AAE5-639F577C04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8277" y="2865016"/>
            <a:ext cx="29260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F0378FA-FA7B-42A2-9F64-3BF0FB6B3AE0}"/>
              </a:ext>
            </a:extLst>
          </p:cNvPr>
          <p:cNvSpPr txBox="1"/>
          <p:nvPr/>
        </p:nvSpPr>
        <p:spPr>
          <a:xfrm>
            <a:off x="948648" y="2978254"/>
            <a:ext cx="3153580" cy="2444238"/>
          </a:xfrm>
          <a:prstGeom prst="rect">
            <a:avLst/>
          </a:prstGeom>
        </p:spPr>
        <p:txBody>
          <a:bodyPr vert="horz" lIns="0" tIns="45720" rIns="0" bIns="45720" rtlCol="0">
            <a:normAutofit/>
          </a:bodyPr>
          <a:lstStyle/>
          <a:p>
            <a:pPr marL="285750" indent="-285750">
              <a:spcAft>
                <a:spcPts val="600"/>
              </a:spcAft>
              <a:buFont typeface="Calibri" panose="020F0502020204030204" pitchFamily="34" charset="0"/>
              <a:buChar char="•"/>
            </a:pPr>
            <a:r>
              <a:rPr lang="en-US" sz="1600" dirty="0">
                <a:solidFill>
                  <a:srgbClr val="FFFFFF"/>
                </a:solidFill>
              </a:rPr>
              <a:t>Puzzle Website</a:t>
            </a:r>
          </a:p>
          <a:p>
            <a:pPr marL="285750" indent="-285750">
              <a:spcAft>
                <a:spcPts val="600"/>
              </a:spcAft>
              <a:buFont typeface="Calibri" panose="020F0502020204030204" pitchFamily="34" charset="0"/>
              <a:buChar char="•"/>
            </a:pPr>
            <a:r>
              <a:rPr lang="en-US" sz="1600" dirty="0">
                <a:solidFill>
                  <a:srgbClr val="FFFFFF"/>
                </a:solidFill>
              </a:rPr>
              <a:t>Using Bootstrap and </a:t>
            </a:r>
            <a:r>
              <a:rPr lang="en-US" sz="1600" dirty="0" err="1">
                <a:solidFill>
                  <a:srgbClr val="FFFFFF"/>
                </a:solidFill>
              </a:rPr>
              <a:t>JQuery</a:t>
            </a:r>
            <a:endParaRPr lang="en-US" sz="1600" dirty="0">
              <a:solidFill>
                <a:srgbClr val="FFFFFF"/>
              </a:solidFill>
            </a:endParaRPr>
          </a:p>
          <a:p>
            <a:pPr marL="285750" indent="-285750">
              <a:spcAft>
                <a:spcPts val="600"/>
              </a:spcAft>
              <a:buFont typeface="Calibri" panose="020F0502020204030204" pitchFamily="34" charset="0"/>
              <a:buChar char="•"/>
            </a:pPr>
            <a:r>
              <a:rPr lang="en-US" sz="1600" dirty="0">
                <a:solidFill>
                  <a:srgbClr val="FFFFFF"/>
                </a:solidFill>
              </a:rPr>
              <a:t>Based on puzzle box project designed in another class</a:t>
            </a:r>
          </a:p>
          <a:p>
            <a:pPr marL="285750" indent="-285750">
              <a:spcAft>
                <a:spcPts val="600"/>
              </a:spcAft>
              <a:buFont typeface="Calibri" panose="020F0502020204030204" pitchFamily="34" charset="0"/>
              <a:buChar char="•"/>
            </a:pPr>
            <a:r>
              <a:rPr lang="en-US" sz="1600" dirty="0">
                <a:solidFill>
                  <a:srgbClr val="FFFFFF"/>
                </a:solidFill>
              </a:rPr>
              <a:t>Theme: Escape an AI in an underwater base</a:t>
            </a:r>
          </a:p>
          <a:p>
            <a:pPr marL="285750" indent="-285750">
              <a:spcAft>
                <a:spcPts val="600"/>
              </a:spcAft>
              <a:buFont typeface="Calibri" panose="020F0502020204030204" pitchFamily="34" charset="0"/>
              <a:buChar char="•"/>
            </a:pPr>
            <a:endParaRPr lang="en-US" sz="1600" dirty="0">
              <a:solidFill>
                <a:srgbClr val="FFFFFF"/>
              </a:solidFill>
            </a:endParaRPr>
          </a:p>
        </p:txBody>
      </p:sp>
      <p:sp>
        <p:nvSpPr>
          <p:cNvPr id="77" name="Rectangle 76">
            <a:extLst>
              <a:ext uri="{FF2B5EF4-FFF2-40B4-BE49-F238E27FC236}">
                <a16:creationId xmlns:a16="http://schemas.microsoft.com/office/drawing/2014/main" id="{1FE461C7-FF45-427F-83D7-18DFBD4818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5736203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40791F6-715D-481A-9C4A-3645AECFD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156841-BB7D-431F-97F7-C32DFAE72CB8}"/>
              </a:ext>
            </a:extLst>
          </p:cNvPr>
          <p:cNvSpPr>
            <a:spLocks noGrp="1"/>
          </p:cNvSpPr>
          <p:nvPr>
            <p:ph type="title"/>
          </p:nvPr>
        </p:nvSpPr>
        <p:spPr>
          <a:xfrm>
            <a:off x="642257" y="634946"/>
            <a:ext cx="6432434" cy="1450757"/>
          </a:xfrm>
        </p:spPr>
        <p:txBody>
          <a:bodyPr vert="horz" lIns="91440" tIns="45720" rIns="91440" bIns="45720" rtlCol="0" anchor="b">
            <a:normAutofit/>
          </a:bodyPr>
          <a:lstStyle/>
          <a:p>
            <a:pPr>
              <a:lnSpc>
                <a:spcPct val="90000"/>
              </a:lnSpc>
            </a:pPr>
            <a:endParaRPr lang="en-US" sz="4800"/>
          </a:p>
        </p:txBody>
      </p:sp>
      <p:cxnSp>
        <p:nvCxnSpPr>
          <p:cNvPr id="14" name="Straight Connector 13">
            <a:extLst>
              <a:ext uri="{FF2B5EF4-FFF2-40B4-BE49-F238E27FC236}">
                <a16:creationId xmlns:a16="http://schemas.microsoft.com/office/drawing/2014/main" id="{740F83A4-FAC4-4867-95A5-BBFD280C7B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6240" y="2267421"/>
            <a:ext cx="60350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004FB9D-A181-43F9-89F0-BF1707E3324E}"/>
              </a:ext>
            </a:extLst>
          </p:cNvPr>
          <p:cNvSpPr txBox="1"/>
          <p:nvPr/>
        </p:nvSpPr>
        <p:spPr>
          <a:xfrm>
            <a:off x="642257" y="2407436"/>
            <a:ext cx="6432434" cy="3461658"/>
          </a:xfrm>
          <a:prstGeom prst="rect">
            <a:avLst/>
          </a:prstGeom>
        </p:spPr>
        <p:txBody>
          <a:bodyPr vert="horz" lIns="0" tIns="45720" rIns="0" bIns="45720" rtlCol="0">
            <a:normAutofit/>
          </a:bodyPr>
          <a:lstStyle/>
          <a:p>
            <a:pPr>
              <a:spcAft>
                <a:spcPts val="600"/>
              </a:spcAft>
              <a:buFont typeface="Calibri" panose="020F0502020204030204" pitchFamily="34" charset="0"/>
            </a:pPr>
            <a:r>
              <a:rPr lang="en-US">
                <a:solidFill>
                  <a:schemeClr val="tx1">
                    <a:lumMod val="75000"/>
                    <a:lumOff val="25000"/>
                  </a:schemeClr>
                </a:solidFill>
              </a:rPr>
              <a:t>&lt;link href="https://fonts.googleapis.com/css?family=</a:t>
            </a:r>
            <a:r>
              <a:rPr lang="en-US" b="1">
                <a:solidFill>
                  <a:schemeClr val="tx1">
                    <a:lumMod val="75000"/>
                    <a:lumOff val="25000"/>
                  </a:schemeClr>
                </a:solidFill>
              </a:rPr>
              <a:t>Fira+Sans</a:t>
            </a:r>
            <a:r>
              <a:rPr lang="en-US">
                <a:solidFill>
                  <a:schemeClr val="tx1">
                    <a:lumMod val="75000"/>
                    <a:lumOff val="25000"/>
                  </a:schemeClr>
                </a:solidFill>
              </a:rPr>
              <a:t>&amp;display=swap" rel="stylesheet"&gt;</a:t>
            </a:r>
          </a:p>
        </p:txBody>
      </p:sp>
      <p:pic>
        <p:nvPicPr>
          <p:cNvPr id="7" name="Picture 6">
            <a:extLst>
              <a:ext uri="{FF2B5EF4-FFF2-40B4-BE49-F238E27FC236}">
                <a16:creationId xmlns:a16="http://schemas.microsoft.com/office/drawing/2014/main" id="{C759E5F0-D51B-4B10-B9F1-E397C028CB55}"/>
              </a:ext>
            </a:extLst>
          </p:cNvPr>
          <p:cNvPicPr>
            <a:picLocks noChangeAspect="1"/>
          </p:cNvPicPr>
          <p:nvPr/>
        </p:nvPicPr>
        <p:blipFill>
          <a:blip r:embed="rId2"/>
          <a:stretch>
            <a:fillRect/>
          </a:stretch>
        </p:blipFill>
        <p:spPr>
          <a:xfrm>
            <a:off x="89274" y="3388018"/>
            <a:ext cx="5769858" cy="2163695"/>
          </a:xfrm>
          <a:prstGeom prst="rect">
            <a:avLst/>
          </a:prstGeom>
        </p:spPr>
      </p:pic>
      <p:pic>
        <p:nvPicPr>
          <p:cNvPr id="5" name="Content Placeholder 4" descr="A picture containing food&#10;&#10;Description automatically generated">
            <a:extLst>
              <a:ext uri="{FF2B5EF4-FFF2-40B4-BE49-F238E27FC236}">
                <a16:creationId xmlns:a16="http://schemas.microsoft.com/office/drawing/2014/main" id="{C21C67C5-234F-4AAC-8547-DC176E85B67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332872" y="3079508"/>
            <a:ext cx="5225130" cy="2612564"/>
          </a:xfrm>
          <a:prstGeom prst="rect">
            <a:avLst/>
          </a:prstGeom>
        </p:spPr>
      </p:pic>
      <p:sp>
        <p:nvSpPr>
          <p:cNvPr id="16" name="Rectangle 15">
            <a:extLst>
              <a:ext uri="{FF2B5EF4-FFF2-40B4-BE49-F238E27FC236}">
                <a16:creationId xmlns:a16="http://schemas.microsoft.com/office/drawing/2014/main" id="{811CBAFA-D7E0-40A7-BB94-2C05304B4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90344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990D0034-F768-41E7-85D4-F38C4DE85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solidFill>
            <a:schemeClr val="tx1"/>
          </a:solidFill>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sp>
        <p:nvSpPr>
          <p:cNvPr id="77" name="Rectangle 76">
            <a:extLst>
              <a:ext uri="{FF2B5EF4-FFF2-40B4-BE49-F238E27FC236}">
                <a16:creationId xmlns:a16="http://schemas.microsoft.com/office/drawing/2014/main" id="{95B38FD6-641F-41BF-B466-C1C636642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474" y="643467"/>
            <a:ext cx="3635926" cy="5113865"/>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Connector 78">
            <a:extLst>
              <a:ext uri="{FF2B5EF4-FFF2-40B4-BE49-F238E27FC236}">
                <a16:creationId xmlns:a16="http://schemas.microsoft.com/office/drawing/2014/main" id="{6BF9119E-766E-4526-AAE5-639F577C04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92128" y="2660530"/>
            <a:ext cx="29260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4C4A6D9-CE50-416C-B070-27835E1046F3}"/>
              </a:ext>
            </a:extLst>
          </p:cNvPr>
          <p:cNvSpPr txBox="1"/>
          <p:nvPr/>
        </p:nvSpPr>
        <p:spPr>
          <a:xfrm>
            <a:off x="948648" y="643467"/>
            <a:ext cx="3153580" cy="4836951"/>
          </a:xfrm>
          <a:prstGeom prst="rect">
            <a:avLst/>
          </a:prstGeom>
        </p:spPr>
        <p:txBody>
          <a:bodyPr vert="horz" lIns="0" tIns="45720" rIns="0" bIns="45720" rtlCol="0">
            <a:noAutofit/>
          </a:bodyPr>
          <a:lstStyle/>
          <a:p>
            <a:pPr>
              <a:lnSpc>
                <a:spcPct val="90000"/>
              </a:lnSpc>
              <a:spcAft>
                <a:spcPts val="600"/>
              </a:spcAft>
              <a:buFont typeface="Calibri" panose="020F0502020204030204" pitchFamily="34" charset="0"/>
            </a:pPr>
            <a:r>
              <a:rPr lang="en-US" sz="500" b="1" dirty="0"/>
              <a:t>Email Puzzle -TODO print</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u="sng" dirty="0">
                <a:hlinkClick r:id="rId2"/>
              </a:rPr>
              <a:t>keyboardpapi@protonmail.com</a:t>
            </a:r>
            <a:br>
              <a:rPr lang="en-US" sz="500" dirty="0">
                <a:hlinkClick r:id="rId2"/>
              </a:rPr>
            </a:br>
            <a:r>
              <a:rPr lang="en-US" sz="500" dirty="0"/>
              <a:t>So great to meet you!</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My name is Agnes! I’ll be forwarding your emails from the outside world and generally assisting you! Your password is agnes2019. Feel free to change your password although I get the feeling you won’t. All passwords in the system must be a word and four numbers.</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Looking forward to exploring science with you </a:t>
            </a:r>
            <a:r>
              <a:rPr lang="en-US" sz="500" u="sng" dirty="0">
                <a:hlinkClick r:id="rId2"/>
              </a:rPr>
              <a:t>keyboardpapi@protonmail.com</a:t>
            </a:r>
            <a:endParaRPr lang="en-US" sz="500" b="0" dirty="0">
              <a:effectLst/>
            </a:endParaRPr>
          </a:p>
          <a:p>
            <a:pPr>
              <a:lnSpc>
                <a:spcPct val="90000"/>
              </a:lnSpc>
              <a:spcAft>
                <a:spcPts val="600"/>
              </a:spcAft>
              <a:buFont typeface="Calibri" panose="020F0502020204030204" pitchFamily="34" charset="0"/>
            </a:pPr>
            <a:r>
              <a:rPr lang="en-US" sz="500" dirty="0"/>
              <a:t>Love, Agnes</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Forwarded Email From “Your Last Loved One”</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If I could unleash the fury of a thousand suns on you I would still need an additional sun.</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u="sng" dirty="0">
                <a:hlinkClick r:id="rId3"/>
              </a:rPr>
              <a:t>eng4153@gmail.com</a:t>
            </a:r>
            <a:endParaRPr lang="en-US" sz="500" b="0" dirty="0">
              <a:effectLst/>
            </a:endParaRPr>
          </a:p>
          <a:p>
            <a:pPr>
              <a:lnSpc>
                <a:spcPct val="90000"/>
              </a:lnSpc>
              <a:spcAft>
                <a:spcPts val="600"/>
              </a:spcAft>
              <a:buFont typeface="Calibri" panose="020F0502020204030204" pitchFamily="34" charset="0"/>
            </a:pPr>
            <a:r>
              <a:rPr lang="en-US" sz="500" dirty="0"/>
              <a:t>Hello,</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You can call me Agnes! I will be your artificial assistant on this adventure, forwarding your mail and other monotonous things. The world sure is full of monotonous things. Your email is </a:t>
            </a:r>
            <a:r>
              <a:rPr lang="en-US" sz="500" u="sng" dirty="0">
                <a:hlinkClick r:id="rId3"/>
              </a:rPr>
              <a:t>eng4153@gmail.com</a:t>
            </a:r>
            <a:r>
              <a:rPr lang="en-US" sz="500" dirty="0"/>
              <a:t>. Please create your own password. I’m too busy looking at pictures of cracked concrete.</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My condolences, Agnes</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Forwarded Email From “Your Mother Please Call Me Back”</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Congrats on the job honey. Please take lots of pictures of your adventures and friends!!! We love you and are so proud of you! Also, we’re letting you know that your dog </a:t>
            </a:r>
            <a:r>
              <a:rPr lang="en-US" sz="500" dirty="0" err="1"/>
              <a:t>Scooby</a:t>
            </a:r>
            <a:r>
              <a:rPr lang="en-US" sz="500" dirty="0"/>
              <a:t> just passed away, we couldn’t figure out what kind of food he liked. Please let us know if this is ok for his eulogy: “RIP </a:t>
            </a:r>
            <a:r>
              <a:rPr lang="en-US" sz="500" b="1" dirty="0" err="1"/>
              <a:t>Scooby</a:t>
            </a:r>
            <a:r>
              <a:rPr lang="en-US" sz="500" dirty="0"/>
              <a:t>, starving at the tender age of </a:t>
            </a:r>
            <a:r>
              <a:rPr lang="en-US" sz="500" b="1" dirty="0"/>
              <a:t>21</a:t>
            </a:r>
            <a:r>
              <a:rPr lang="en-US" sz="500" dirty="0"/>
              <a:t>, in the year of our lord </a:t>
            </a:r>
            <a:r>
              <a:rPr lang="en-US" sz="500" b="1" dirty="0"/>
              <a:t>2049</a:t>
            </a:r>
            <a:r>
              <a:rPr lang="en-US" sz="500" dirty="0"/>
              <a:t>”.</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u="sng" dirty="0">
                <a:hlinkClick r:id="rId4"/>
              </a:rPr>
              <a:t>legalizesushi18plus@protonmail.com</a:t>
            </a:r>
            <a:endParaRPr lang="en-US" sz="500" b="0" dirty="0">
              <a:effectLst/>
            </a:endParaRPr>
          </a:p>
          <a:p>
            <a:pPr>
              <a:lnSpc>
                <a:spcPct val="90000"/>
              </a:lnSpc>
              <a:spcAft>
                <a:spcPts val="600"/>
              </a:spcAft>
              <a:buFont typeface="Calibri" panose="020F0502020204030204" pitchFamily="34" charset="0"/>
            </a:pPr>
            <a:r>
              <a:rPr lang="en-US" sz="500" dirty="0"/>
              <a:t>Sup.</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This is Agnes. I’ll be your spirit guide on this science misadventure. I’m like, so into helping you out as your new artificially intelligent virtual friend of sorts! Your email is </a:t>
            </a:r>
            <a:r>
              <a:rPr lang="en-US" sz="500" u="sng" dirty="0">
                <a:hlinkClick r:id="rId4"/>
              </a:rPr>
              <a:t>legalizesushi18plus@protonmail.com</a:t>
            </a:r>
            <a:r>
              <a:rPr lang="en-US" sz="500" dirty="0"/>
              <a:t>. I don’t want to step on your toes, so please create your own password.</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Fight on, Agnes</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Forwarded Email From “Your Least Favorite Sister”</a:t>
            </a:r>
            <a:endParaRPr lang="en-US" sz="500" b="0" dirty="0">
              <a:effectLst/>
            </a:endParaRPr>
          </a:p>
          <a:p>
            <a:pPr>
              <a:lnSpc>
                <a:spcPct val="90000"/>
              </a:lnSpc>
              <a:spcAft>
                <a:spcPts val="600"/>
              </a:spcAft>
              <a:buFont typeface="Calibri" panose="020F0502020204030204" pitchFamily="34" charset="0"/>
            </a:pPr>
            <a:br>
              <a:rPr lang="en-US" sz="500" b="0" dirty="0">
                <a:effectLst/>
              </a:rPr>
            </a:br>
            <a:r>
              <a:rPr lang="en-US" sz="500" dirty="0"/>
              <a:t>What’s up nerd! </a:t>
            </a:r>
            <a:r>
              <a:rPr lang="en-US" sz="500" dirty="0" err="1"/>
              <a:t>Haha</a:t>
            </a:r>
            <a:r>
              <a:rPr lang="en-US" sz="500" dirty="0"/>
              <a:t> just kidding omg I can’t believe I just wrote out </a:t>
            </a:r>
            <a:r>
              <a:rPr lang="en-US" sz="500" dirty="0" err="1"/>
              <a:t>haha</a:t>
            </a:r>
            <a:r>
              <a:rPr lang="en-US" sz="500" dirty="0"/>
              <a:t> </a:t>
            </a:r>
            <a:r>
              <a:rPr lang="en-US" sz="500" dirty="0" err="1"/>
              <a:t>haha</a:t>
            </a:r>
            <a:r>
              <a:rPr lang="en-US" sz="500" dirty="0"/>
              <a:t>. Anyways, just wanted to let you know </a:t>
            </a:r>
            <a:r>
              <a:rPr lang="en-US" sz="500" b="1" dirty="0"/>
              <a:t>Happy 46th birthday</a:t>
            </a:r>
            <a:r>
              <a:rPr lang="en-US" sz="500" dirty="0"/>
              <a:t>! It’s crazy you and that movie were made in the same year! </a:t>
            </a:r>
            <a:r>
              <a:rPr lang="en-US" sz="500" dirty="0" err="1"/>
              <a:t>Ew</a:t>
            </a:r>
            <a:r>
              <a:rPr lang="en-US" sz="500" dirty="0"/>
              <a:t> right? And your friend Agnes is like so cool. I’m sorry we can’t watch </a:t>
            </a:r>
            <a:r>
              <a:rPr lang="en-US" sz="500" b="1" dirty="0"/>
              <a:t>Finding Nemo</a:t>
            </a:r>
            <a:r>
              <a:rPr lang="en-US" sz="500" dirty="0"/>
              <a:t> this year, but you should totally watch it with Agnes! I know you just </a:t>
            </a:r>
            <a:r>
              <a:rPr lang="en-US" sz="500" b="1" dirty="0"/>
              <a:t>love that fish</a:t>
            </a:r>
            <a:r>
              <a:rPr lang="en-US" sz="500" dirty="0"/>
              <a:t>!</a:t>
            </a:r>
            <a:endParaRPr lang="en-US" sz="500" b="0" dirty="0">
              <a:effectLst/>
            </a:endParaRPr>
          </a:p>
          <a:p>
            <a:pPr>
              <a:lnSpc>
                <a:spcPct val="90000"/>
              </a:lnSpc>
              <a:spcAft>
                <a:spcPts val="600"/>
              </a:spcAft>
              <a:buFont typeface="Calibri" panose="020F0502020204030204" pitchFamily="34" charset="0"/>
            </a:pPr>
            <a:br>
              <a:rPr lang="en-US" sz="500" dirty="0"/>
            </a:br>
            <a:endParaRPr lang="en-US" sz="500" dirty="0"/>
          </a:p>
        </p:txBody>
      </p:sp>
      <p:pic>
        <p:nvPicPr>
          <p:cNvPr id="9" name="Picture 8">
            <a:extLst>
              <a:ext uri="{FF2B5EF4-FFF2-40B4-BE49-F238E27FC236}">
                <a16:creationId xmlns:a16="http://schemas.microsoft.com/office/drawing/2014/main" id="{06049590-BD85-42D4-B6A6-B53E874EEC00}"/>
              </a:ext>
            </a:extLst>
          </p:cNvPr>
          <p:cNvPicPr>
            <a:picLocks noChangeAspect="1"/>
          </p:cNvPicPr>
          <p:nvPr/>
        </p:nvPicPr>
        <p:blipFill>
          <a:blip r:embed="rId5"/>
          <a:stretch>
            <a:fillRect/>
          </a:stretch>
        </p:blipFill>
        <p:spPr>
          <a:xfrm>
            <a:off x="4676505" y="1090178"/>
            <a:ext cx="3266618" cy="1502644"/>
          </a:xfrm>
          <a:prstGeom prst="rect">
            <a:avLst/>
          </a:prstGeom>
        </p:spPr>
      </p:pic>
      <p:pic>
        <p:nvPicPr>
          <p:cNvPr id="2054" name="Picture 6">
            <a:extLst>
              <a:ext uri="{FF2B5EF4-FFF2-40B4-BE49-F238E27FC236}">
                <a16:creationId xmlns:a16="http://schemas.microsoft.com/office/drawing/2014/main" id="{35670913-321E-4BA0-9BE3-C0B9E15AFC1B}"/>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4783606" y="3361268"/>
            <a:ext cx="3101701" cy="239606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close up of a map&#10;&#10;Description automatically generated">
            <a:extLst>
              <a:ext uri="{FF2B5EF4-FFF2-40B4-BE49-F238E27FC236}">
                <a16:creationId xmlns:a16="http://schemas.microsoft.com/office/drawing/2014/main" id="{DD5E4D64-1B79-4A7F-9FEF-C0E9756A0F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76229" y="1646055"/>
            <a:ext cx="3272304" cy="3108688"/>
          </a:xfrm>
          <a:prstGeom prst="rect">
            <a:avLst/>
          </a:prstGeom>
        </p:spPr>
      </p:pic>
      <p:sp>
        <p:nvSpPr>
          <p:cNvPr id="81" name="Rectangle 80">
            <a:extLst>
              <a:ext uri="{FF2B5EF4-FFF2-40B4-BE49-F238E27FC236}">
                <a16:creationId xmlns:a16="http://schemas.microsoft.com/office/drawing/2014/main" id="{7363FFA6-C551-4935-A474-8B2482E55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AutoShape 4">
            <a:extLst>
              <a:ext uri="{FF2B5EF4-FFF2-40B4-BE49-F238E27FC236}">
                <a16:creationId xmlns:a16="http://schemas.microsoft.com/office/drawing/2014/main" id="{B75E9ED9-4D75-4575-AFB7-14BB075151A7}"/>
              </a:ext>
            </a:extLst>
          </p:cNvPr>
          <p:cNvSpPr>
            <a:spLocks noChangeAspect="1" noChangeArrowheads="1"/>
          </p:cNvSpPr>
          <p:nvPr/>
        </p:nvSpPr>
        <p:spPr bwMode="auto">
          <a:xfrm>
            <a:off x="1735494" y="3276600"/>
            <a:ext cx="4512906" cy="451290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18240098"/>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RetrospectVTI">
  <a:themeElements>
    <a:clrScheme name="AnalogousFromRegularSeedRightStep">
      <a:dk1>
        <a:srgbClr val="000000"/>
      </a:dk1>
      <a:lt1>
        <a:srgbClr val="FFFFFF"/>
      </a:lt1>
      <a:dk2>
        <a:srgbClr val="243641"/>
      </a:dk2>
      <a:lt2>
        <a:srgbClr val="E8E2E2"/>
      </a:lt2>
      <a:accent1>
        <a:srgbClr val="20B3AE"/>
      </a:accent1>
      <a:accent2>
        <a:srgbClr val="178CD5"/>
      </a:accent2>
      <a:accent3>
        <a:srgbClr val="294FE7"/>
      </a:accent3>
      <a:accent4>
        <a:srgbClr val="6544DD"/>
      </a:accent4>
      <a:accent5>
        <a:srgbClr val="A229E7"/>
      </a:accent5>
      <a:accent6>
        <a:srgbClr val="D517CB"/>
      </a:accent6>
      <a:hlink>
        <a:srgbClr val="C85B5E"/>
      </a:hlink>
      <a:folHlink>
        <a:srgbClr val="7F7F7F"/>
      </a:folHlink>
    </a:clrScheme>
    <a:fontScheme name="Retrospect">
      <a:majorFont>
        <a:latin typeface="Tw Cen M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4E3A23E5496B41B479BDA96A9D3076" ma:contentTypeVersion="13" ma:contentTypeDescription="Create a new document." ma:contentTypeScope="" ma:versionID="e658a3fb1186c7f53e96a507e7e2d644">
  <xsd:schema xmlns:xsd="http://www.w3.org/2001/XMLSchema" xmlns:xs="http://www.w3.org/2001/XMLSchema" xmlns:p="http://schemas.microsoft.com/office/2006/metadata/properties" xmlns:ns3="8ff428be-f43a-4876-a2b5-7a508084db7e" xmlns:ns4="9433ae74-fce0-43f9-a923-ffb8a7ba01af" targetNamespace="http://schemas.microsoft.com/office/2006/metadata/properties" ma:root="true" ma:fieldsID="737a08abf1773517dc75c3be983392f2" ns3:_="" ns4:_="">
    <xsd:import namespace="8ff428be-f43a-4876-a2b5-7a508084db7e"/>
    <xsd:import namespace="9433ae74-fce0-43f9-a923-ffb8a7ba01a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f428be-f43a-4876-a2b5-7a508084db7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33ae74-fce0-43f9-a923-ffb8a7ba01af"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description=""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C121154-2849-4E25-8C34-509CC1C06D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f428be-f43a-4876-a2b5-7a508084db7e"/>
    <ds:schemaRef ds:uri="9433ae74-fce0-43f9-a923-ffb8a7ba01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F90D96-5A0E-45D3-92B5-FC5B046641ED}">
  <ds:schemaRefs>
    <ds:schemaRef ds:uri="http://schemas.microsoft.com/sharepoint/v3/contenttype/forms"/>
  </ds:schemaRefs>
</ds:datastoreItem>
</file>

<file path=customXml/itemProps3.xml><?xml version="1.0" encoding="utf-8"?>
<ds:datastoreItem xmlns:ds="http://schemas.openxmlformats.org/officeDocument/2006/customXml" ds:itemID="{22B394E0-1B34-4693-8030-52064AAE7A3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517</Words>
  <Application>Microsoft Office PowerPoint</Application>
  <PresentationFormat>Widescreen</PresentationFormat>
  <Paragraphs>29</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Tw Cen MT</vt:lpstr>
      <vt:lpstr>RetrospectVTI</vt:lpstr>
      <vt:lpstr>Puzzle Box Website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Puzzle Box Website</dc:title>
  <dc:creator>G O</dc:creator>
  <cp:lastModifiedBy>G O</cp:lastModifiedBy>
  <cp:revision>1</cp:revision>
  <dcterms:created xsi:type="dcterms:W3CDTF">2019-11-20T16:46:43Z</dcterms:created>
  <dcterms:modified xsi:type="dcterms:W3CDTF">2019-11-20T16:47:39Z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0x010100324E3A23E5496B41B479BDA96A9D3076</vt:lpwstr>
  </property>
</Properties>
</file>